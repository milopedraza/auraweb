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untain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592036" cy="1188720"/>
          </a:xfrm>
          <a:prstGeom prst="rect">
            <a:avLst/>
          </a:prstGeom>
        </p:spPr>
      </p:pic>
      <p:pic>
        <p:nvPicPr>
          <p:cNvPr id="5" name="Picture 4" descr="logo-full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777240"/>
            <a:ext cx="246888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C6A15B"/>
                </a:solidFill>
              </a:defRPr>
            </a:pPr>
            <a:r>
              <a:t>PROPUESTA COMERCIAL &amp; MODELO DE SERVICIO ANUAL</a:t>
            </a:r>
          </a:p>
          <a:p>
            <a:pPr>
              <a:spcAft>
                <a:spcPts val="600"/>
              </a:spcAft>
              <a:defRPr sz="4800" b="1">
                <a:solidFill>
                  <a:srgbClr val="FFFFFF"/>
                </a:solidFill>
              </a:defRPr>
            </a:pPr>
            <a:r>
              <a:t>SKOOLING</a:t>
            </a:r>
          </a:p>
          <a:p>
            <a:pPr>
              <a:spcAft>
                <a:spcPts val="1400"/>
              </a:spcAft>
              <a:defRPr sz="2000">
                <a:solidFill>
                  <a:srgbClr val="C6A15B"/>
                </a:solidFill>
              </a:defRPr>
            </a:pPr>
            <a:r>
              <a:t>La vida escolar de tu comunidad, conectada en un solo lugar.</a:t>
            </a:r>
          </a:p>
          <a:p>
            <a:pPr>
              <a:defRPr sz="1400">
                <a:solidFill>
                  <a:srgbClr val="B4C0D2"/>
                </a:solidFill>
              </a:defRPr>
            </a:pPr>
            <a:r>
              <a:t>Plataforma integral SaaS de alto rendimiento para gestión académica, comunicación institucional certificada y monitoreo de rutas escolares en tiempo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57083"/>
                </a:solidFill>
              </a:defRPr>
            </a:pPr>
            <a:r>
              <a:t>Aura Soluciones e Innovación S.A.S.   |   aurasi.co   |   Tecnología Cloud Nativa de Vanguardia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CONTEXTO &amp; SOLUCIÓN DE INGENIERÍA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¿Por qué modernizar la experiencia escolar hoy?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700" b="1">
                <a:solidFill>
                  <a:srgbClr val="BE2828"/>
                </a:solidFill>
              </a:defRPr>
            </a:pPr>
            <a:r>
              <a:t>El Panorama Tradicional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• Dispersión de canales:</a:t>
            </a:r>
            <a:r>
              <a:rPr b="0">
                <a:solidFill>
                  <a:srgbClr val="657083"/>
                </a:solidFill>
              </a:rPr>
              <a:t> Grupos de WhatsApp informales, llamadas cruzadas a secretaría y circulares de papel que se extravían.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• Privacidad vulnerable:</a:t>
            </a:r>
            <a:r>
              <a:rPr b="0">
                <a:solidFill>
                  <a:srgbClr val="657083"/>
                </a:solidFill>
              </a:rPr>
              <a:t> Docentes atendiendo mensajes personales a deshoras sin trazabilidad ni límites institucionales.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• Incertidumbre en transporte:</a:t>
            </a:r>
            <a:r>
              <a:rPr b="0">
                <a:solidFill>
                  <a:srgbClr val="657083"/>
                </a:solidFill>
              </a:rPr>
              <a:t> Padres con estrés constante sin saber la ubicación exacta ni la hora de llegada de la ruta.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• Procesos desarticulados:</a:t>
            </a:r>
            <a:r>
              <a:rPr b="0">
                <a:solidFill>
                  <a:srgbClr val="657083"/>
                </a:solidFill>
              </a:rPr>
              <a:t> Calificaciones en archivos de Excel dispersos y sobrecarga administrativa en secretaría.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700" b="1">
                <a:solidFill>
                  <a:srgbClr val="0C1930"/>
                </a:solidFill>
              </a:defRPr>
            </a:pPr>
            <a:r>
              <a:t>La Solución con Skooling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✔ Portal Web Especializado:</a:t>
            </a:r>
            <a:r>
              <a:rPr b="0">
                <a:solidFill>
                  <a:srgbClr val="657083"/>
                </a:solidFill>
              </a:rPr>
              <a:t> Exclusivo para docentes, administrativos y directivos para gestión académica ágil.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✔ App Móvil para Familias:</a:t>
            </a:r>
            <a:r>
              <a:rPr b="0">
                <a:solidFill>
                  <a:srgbClr val="657083"/>
                </a:solidFill>
              </a:rPr>
              <a:t> Los acudientes consultan notas, eventos y rutas exclusivamente desde la app móvil.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✔ Comunicación Oficial Protegida:</a:t>
            </a:r>
            <a:r>
              <a:rPr b="0">
                <a:solidFill>
                  <a:srgbClr val="657083"/>
                </a:solidFill>
              </a:rPr>
              <a:t> Circulares oficiales con confirmación de lectura y trazabilidad respaldada.</a:t>
            </a:r>
          </a:p>
          <a:p>
            <a:pPr>
              <a:spcAft>
                <a:spcPts val="400"/>
              </a:spcAft>
              <a:defRPr b="1" sz="1100">
                <a:solidFill>
                  <a:srgbClr val="0C1930"/>
                </a:solidFill>
              </a:defRPr>
            </a:pPr>
            <a:r>
              <a:t>✔ Telemetría GPS en Vivo:</a:t>
            </a:r>
            <a:r>
              <a:rPr b="0">
                <a:solidFill>
                  <a:srgbClr val="657083"/>
                </a:solidFill>
              </a:rPr>
              <a:t> Seguimiento satelital de rutas escolares con alertas a una distancia determinada.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31520"/>
          </a:xfrm>
          <a:prstGeom prst="roundRect">
            <a:avLst/>
          </a:prstGeom>
          <a:solidFill>
            <a:srgbClr val="0C1930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C6A15B"/>
                </a:solidFill>
              </a:defRPr>
            </a:pPr>
            <a:r>
              <a:t>🚀 Tecnología de Vanguardia: </a:t>
            </a:r>
            <a:r>
              <a:rPr b="0">
                <a:solidFill>
                  <a:srgbClr val="FFFFFF"/>
                </a:solidFill>
              </a:rPr>
              <a:t>Construido sobre infraestructura Cloud nativa de Google Cloud y base de datos serverless de alto rendimiento, garantizando máxima velocidad, cifrado estricto y alta disponibilidad.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SOLUCIÓN INTEGRAL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Una plataforma modular que crece con la institución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663440"/>
          </a:xfrm>
          <a:prstGeom prst="roundRect">
            <a:avLst/>
          </a:prstGeom>
          <a:solidFill>
            <a:srgbClr val="F5F7FA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spcAft>
                <a:spcPts val="200"/>
              </a:spcAft>
              <a:defRPr sz="1000" b="1">
                <a:solidFill>
                  <a:srgbClr val="C6A15B"/>
                </a:solidFill>
              </a:defRPr>
            </a:pPr>
            <a:r>
              <a:t>NIVEL 1</a:t>
            </a:r>
          </a:p>
          <a:p>
            <a:pPr>
              <a:spcAft>
                <a:spcPts val="200"/>
              </a:spcAft>
              <a:defRPr sz="1650" b="1">
                <a:solidFill>
                  <a:srgbClr val="0C1930"/>
                </a:solidFill>
              </a:defRPr>
            </a:pPr>
            <a:r>
              <a:t>Core Académico</a:t>
            </a:r>
          </a:p>
          <a:p>
            <a:pPr>
              <a:spcAft>
                <a:spcPts val="1000"/>
              </a:spcAft>
              <a:defRPr sz="1050">
                <a:solidFill>
                  <a:srgbClr val="657083"/>
                </a:solidFill>
              </a:defRPr>
            </a:pPr>
            <a:r>
              <a:t>Gestión operativa central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Gestión de cursos, materias y grupos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Sistema de notas 100% configurable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Horarios semanales y validación de cruces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Calendario con festivos nacionales a 1 clic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Registro de faltas justificadas/injustificadas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Portal web para docentes y directivos</a:t>
            </a:r>
          </a:p>
        </p:txBody>
      </p:sp>
      <p:pic>
        <p:nvPicPr>
          <p:cNvPr id="5" name="Picture 4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874519"/>
            <a:ext cx="411480" cy="411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389120" y="1737360"/>
            <a:ext cx="3383280" cy="4663440"/>
          </a:xfrm>
          <a:prstGeom prst="roundRect">
            <a:avLst/>
          </a:prstGeom>
          <a:solidFill>
            <a:srgbClr val="FFF7E5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spcAft>
                <a:spcPts val="200"/>
              </a:spcAft>
              <a:defRPr sz="1000" b="1">
                <a:solidFill>
                  <a:srgbClr val="C6A15B"/>
                </a:solidFill>
              </a:defRPr>
            </a:pPr>
            <a:r>
              <a:t>NIVEL 2</a:t>
            </a:r>
          </a:p>
          <a:p>
            <a:pPr>
              <a:spcAft>
                <a:spcPts val="200"/>
              </a:spcAft>
              <a:defRPr sz="1650" b="1">
                <a:solidFill>
                  <a:srgbClr val="0C1930"/>
                </a:solidFill>
              </a:defRPr>
            </a:pPr>
            <a:r>
              <a:t>Mensajería &amp; Comunidad</a:t>
            </a:r>
          </a:p>
          <a:p>
            <a:pPr>
              <a:spcAft>
                <a:spcPts val="1000"/>
              </a:spcAft>
              <a:defRPr sz="1050">
                <a:solidFill>
                  <a:srgbClr val="657083"/>
                </a:solidFill>
              </a:defRPr>
            </a:pPr>
            <a:r>
              <a:t>Incluye Core + Comunicación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Todo lo de Core Académico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Comunicados masivos (Broadcasts)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Chat verificado profesor-acudiente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Circulares digitales certificadas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Confirmación de lectura por acudiente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Calendario de eventos con alerta directa</a:t>
            </a:r>
          </a:p>
        </p:txBody>
      </p:sp>
      <p:pic>
        <p:nvPicPr>
          <p:cNvPr id="7" name="Picture 6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74519"/>
            <a:ext cx="411480" cy="411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737360"/>
            <a:ext cx="3383280" cy="4663440"/>
          </a:xfrm>
          <a:prstGeom prst="roundRect">
            <a:avLst/>
          </a:prstGeom>
          <a:solidFill>
            <a:srgbClr val="F5F7FA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56032"/>
          <a:lstStyle/>
          <a:p>
            <a:pPr algn="ctr">
              <a:spcAft>
                <a:spcPts val="200"/>
              </a:spcAft>
              <a:defRPr sz="1000" b="1">
                <a:solidFill>
                  <a:srgbClr val="C6A15B"/>
                </a:solidFill>
              </a:defRPr>
            </a:pPr>
            <a:r>
              <a:t>NIVEL 3</a:t>
            </a:r>
          </a:p>
          <a:p>
            <a:pPr>
              <a:spcAft>
                <a:spcPts val="200"/>
              </a:spcAft>
              <a:defRPr sz="1650" b="1">
                <a:solidFill>
                  <a:srgbClr val="0C1930"/>
                </a:solidFill>
              </a:defRPr>
            </a:pPr>
            <a:r>
              <a:t>Movilidad &amp; Rutas</a:t>
            </a:r>
          </a:p>
          <a:p>
            <a:pPr>
              <a:spcAft>
                <a:spcPts val="1000"/>
              </a:spcAft>
              <a:defRPr sz="1050">
                <a:solidFill>
                  <a:srgbClr val="657083"/>
                </a:solidFill>
              </a:defRPr>
            </a:pPr>
            <a:r>
              <a:t>Solución 100% Integral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Todo Core + Mensajería Oficial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Rastreo satelital GPS en tiempo real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App para conductores y monitores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Alertas por proximidad de distancia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Control de abordaje y desabordaje</a:t>
            </a:r>
          </a:p>
          <a:p>
            <a:pPr>
              <a:spcAft>
                <a:spcPts val="350"/>
              </a:spcAft>
              <a:defRPr sz="1000">
                <a:solidFill>
                  <a:srgbClr val="0C1930"/>
                </a:solidFill>
              </a:defRPr>
            </a:pPr>
            <a:r>
              <a:t>• Tranquilidad total para las familias</a:t>
            </a:r>
          </a:p>
        </p:txBody>
      </p:sp>
      <p:pic>
        <p:nvPicPr>
          <p:cNvPr id="9" name="Picture 8" descr="route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74519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MÓDULO 1 • CORE ACADÉMICO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Gestión Académica Flexible, Precisa y Sin Papel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930"/>
                </a:solidFill>
              </a:defRPr>
            </a:pPr>
            <a:r>
              <a:t>Configuración total adaptada al manual de convivencia.</a:t>
            </a:r>
          </a:p>
          <a:p>
            <a:pPr>
              <a:spcAft>
                <a:spcPts val="400"/>
              </a:spcAft>
              <a:defRPr b="1" sz="1050">
                <a:solidFill>
                  <a:srgbClr val="0C1930"/>
                </a:solidFill>
              </a:defRPr>
            </a:pPr>
            <a:r>
              <a:t>✔ Sistema de Notas Configurable:</a:t>
            </a:r>
            <a:r>
              <a:rPr b="0">
                <a:solidFill>
                  <a:srgbClr val="657083"/>
                </a:solidFill>
              </a:rPr>
              <a:t> Adapte escalas numéricas o cualitativas, periodos y ponderaciones.</a:t>
            </a:r>
          </a:p>
          <a:p>
            <a:pPr>
              <a:spcAft>
                <a:spcPts val="400"/>
              </a:spcAft>
              <a:defRPr b="1" sz="1050">
                <a:solidFill>
                  <a:srgbClr val="0C1930"/>
                </a:solidFill>
              </a:defRPr>
            </a:pPr>
            <a:r>
              <a:t>✔ Calificar 'en la sala de tu hogar':</a:t>
            </a:r>
            <a:r>
              <a:rPr b="0">
                <a:solidFill>
                  <a:srgbClr val="657083"/>
                </a:solidFill>
              </a:rPr>
              <a:t> Interfaz ágil para docentes desde cualquier dispositivo, con publicación controlada de boletines.</a:t>
            </a:r>
          </a:p>
          <a:p>
            <a:pPr>
              <a:spcAft>
                <a:spcPts val="400"/>
              </a:spcAft>
              <a:defRPr b="1" sz="1050">
                <a:solidFill>
                  <a:srgbClr val="0C1930"/>
                </a:solidFill>
              </a:defRPr>
            </a:pPr>
            <a:r>
              <a:t>✔ Descargue Masivo de Boletines PDF:</a:t>
            </a:r>
            <a:r>
              <a:rPr b="0">
                <a:solidFill>
                  <a:srgbClr val="657083"/>
                </a:solidFill>
              </a:rPr>
              <a:t> Generación en lote lista para entrega física o consulta desde la app móvil.</a:t>
            </a:r>
          </a:p>
          <a:p>
            <a:pPr>
              <a:spcAft>
                <a:spcPts val="400"/>
              </a:spcAft>
              <a:defRPr b="1" sz="1050">
                <a:solidFill>
                  <a:srgbClr val="0C1930"/>
                </a:solidFill>
              </a:defRPr>
            </a:pPr>
            <a:r>
              <a:t>✔ Horarios y Cruces Automáticos:</a:t>
            </a:r>
            <a:r>
              <a:rPr b="0">
                <a:solidFill>
                  <a:srgbClr val="657083"/>
                </a:solidFill>
              </a:rPr>
              <a:t> Validación de materias y periodos docentes en el portal web (Schedule).</a:t>
            </a:r>
          </a:p>
          <a:p>
            <a:pPr>
              <a:spcAft>
                <a:spcPts val="400"/>
              </a:spcAft>
              <a:defRPr b="1" sz="1050">
                <a:solidFill>
                  <a:srgbClr val="0C1930"/>
                </a:solidFill>
              </a:defRPr>
            </a:pPr>
            <a:r>
              <a:t>✔ Faltas Justificadas e Injustificadas:</a:t>
            </a:r>
            <a:r>
              <a:rPr b="0">
                <a:solidFill>
                  <a:srgbClr val="657083"/>
                </a:solidFill>
              </a:rPr>
              <a:t> Registro estructurado por periodo (con opción de mensaje instantáneo al acudiente).</a:t>
            </a:r>
          </a:p>
          <a:p>
            <a:pPr>
              <a:spcAft>
                <a:spcPts val="400"/>
              </a:spcAft>
              <a:defRPr b="1" sz="1050">
                <a:solidFill>
                  <a:srgbClr val="0C1930"/>
                </a:solidFill>
              </a:defRPr>
            </a:pPr>
            <a:r>
              <a:t>✔ Cargue Masivo a 1 Clic:</a:t>
            </a:r>
            <a:r>
              <a:rPr b="0">
                <a:solidFill>
                  <a:srgbClr val="657083"/>
                </a:solidFill>
              </a:rPr>
              <a:t> Importación de estudiantes, docentes y festivos nacionales en segundos.</a:t>
            </a:r>
          </a:p>
        </p:txBody>
      </p:sp>
      <p:pic>
        <p:nvPicPr>
          <p:cNvPr id="5" name="Picture 4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3314921"/>
          </a:xfrm>
          <a:prstGeom prst="rect">
            <a:avLst/>
          </a:prstGeom>
        </p:spPr>
      </p:pic>
      <p:pic>
        <p:nvPicPr>
          <p:cNvPr id="6" name="Picture 5" descr="Printed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291840"/>
            <a:ext cx="2576945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MÓDULO 2 • COMUNICACIÓN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Canal Oficial Protegido y Conexión Instantánea</a:t>
            </a:r>
          </a:p>
        </p:txBody>
      </p:sp>
      <p:pic>
        <p:nvPicPr>
          <p:cNvPr id="4" name="Picture 3" descr="Broadcast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4389120" cy="4389120"/>
          </a:xfrm>
          <a:prstGeom prst="rect">
            <a:avLst/>
          </a:prstGeom>
        </p:spPr>
      </p:pic>
      <p:pic>
        <p:nvPicPr>
          <p:cNvPr id="5" name="Picture 4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11680"/>
            <a:ext cx="3931920" cy="2390631"/>
          </a:xfrm>
          <a:prstGeom prst="rect">
            <a:avLst/>
          </a:prstGeom>
        </p:spPr>
      </p:pic>
      <p:pic>
        <p:nvPicPr>
          <p:cNvPr id="6" name="Picture 5" descr="Calendar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645920"/>
            <a:ext cx="43891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6035040"/>
            <a:ext cx="10728655" cy="594360"/>
          </a:xfrm>
          <a:prstGeom prst="roundRect">
            <a:avLst/>
          </a:prstGeom>
          <a:solidFill>
            <a:srgbClr val="F5F7FA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0C1930"/>
                </a:solidFill>
              </a:defRPr>
            </a:pPr>
            <a:r>
              <a:t>✔ Circulares digitales certificadas  |  ✔ Confirmación de lectura por acudiente  |  ✔ Notificaciones Push nativas  |  ✔ Trazabilidad y privacidad docente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MÓDULO 3 • TRANSPORTE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Seguridad, Confianza y Trazabilidad en Cada Recorrido</a:t>
            </a:r>
          </a:p>
        </p:txBody>
      </p:sp>
      <p:pic>
        <p:nvPicPr>
          <p:cNvPr id="4" name="Picture 3" descr="logo-full-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164592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5303520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C1930"/>
                </a:solidFill>
              </a:defRPr>
            </a:pPr>
            <a:r>
              <a:t>La ruta escolar monitoreada con telemetría en tiempo real.</a:t>
            </a:r>
          </a:p>
          <a:p>
            <a:pPr>
              <a:spcAft>
                <a:spcPts val="500"/>
              </a:spcAft>
              <a:defRPr b="1" sz="1050">
                <a:solidFill>
                  <a:srgbClr val="0C1930"/>
                </a:solidFill>
              </a:defRPr>
            </a:pPr>
            <a:r>
              <a:t>✔ Mapa Satelital en Vivo (Routes):</a:t>
            </a:r>
            <a:r>
              <a:rPr b="0">
                <a:solidFill>
                  <a:srgbClr val="657083"/>
                </a:solidFill>
              </a:rPr>
              <a:t> Los acudientes ven exactamente en qué punto del recorrido se encuentra el vehículo escolar desde su app móvil.</a:t>
            </a:r>
          </a:p>
          <a:p>
            <a:pPr>
              <a:spcAft>
                <a:spcPts val="500"/>
              </a:spcAft>
              <a:defRPr b="1" sz="1050">
                <a:solidFill>
                  <a:srgbClr val="0C1930"/>
                </a:solidFill>
              </a:defRPr>
            </a:pPr>
            <a:r>
              <a:t>✔ Alertas a Distancia Determinada:</a:t>
            </a:r>
            <a:r>
              <a:rPr b="0">
                <a:solidFill>
                  <a:srgbClr val="657083"/>
                </a:solidFill>
              </a:rPr>
              <a:t> Notificaciones automáticas cuando la ruta se aproxima a una distancia determinada de la parada.</a:t>
            </a:r>
          </a:p>
          <a:p>
            <a:pPr>
              <a:spcAft>
                <a:spcPts val="500"/>
              </a:spcAft>
              <a:defRPr b="1" sz="1050">
                <a:solidFill>
                  <a:srgbClr val="0C1930"/>
                </a:solidFill>
              </a:defRPr>
            </a:pPr>
            <a:r>
              <a:t>✔ App Conductor y Monitores:</a:t>
            </a:r>
            <a:r>
              <a:rPr b="0">
                <a:solidFill>
                  <a:srgbClr val="657083"/>
                </a:solidFill>
              </a:rPr>
              <a:t> Control digital de abordaje y desabordaje por parada y reporte ágil de ausencias o novedades.</a:t>
            </a:r>
          </a:p>
          <a:p>
            <a:pPr>
              <a:spcAft>
                <a:spcPts val="500"/>
              </a:spcAft>
              <a:defRPr b="1" sz="1050">
                <a:solidFill>
                  <a:srgbClr val="0C1930"/>
                </a:solidFill>
              </a:defRPr>
            </a:pPr>
            <a:r>
              <a:t>✔ Cero Congestión Telefónica:</a:t>
            </a:r>
            <a:r>
              <a:rPr b="0">
                <a:solidFill>
                  <a:srgbClr val="657083"/>
                </a:solidFill>
              </a:rPr>
              <a:t> Elimina las llamadas constantes de padres preocupados a la portería o directivas por demoras de tráfico.</a:t>
            </a:r>
          </a:p>
          <a:p>
            <a:br/>
            <a:pPr>
              <a:defRPr b="1" sz="1100">
                <a:solidFill>
                  <a:srgbClr val="C6A15B"/>
                </a:solidFill>
              </a:defRPr>
            </a:pPr>
            <a:r>
              <a:t>⭐ Valor Incalculable para la Comunidad:</a:t>
            </a:r>
            <a:r>
              <a:rPr b="0">
                <a:solidFill>
                  <a:srgbClr val="0C1930"/>
                </a:solidFill>
              </a:rPr>
              <a:t> Genera total confianza y trazabilidad a los padres de familia, aportando un inmenso valor a la reputación, fidelización de matrícula y tranquilidad de la institución.</a:t>
            </a:r>
          </a:p>
        </p:txBody>
      </p:sp>
      <p:pic>
        <p:nvPicPr>
          <p:cNvPr id="6" name="Picture 5" descr="Rou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ACOMPAÑAMIENTO 360° • ETAPA 01 DE 05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¿Qué tiene hoy mi hijo? — Planificación Matutina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C1930"/>
                </a:solidFill>
              </a:defRPr>
            </a:pPr>
            <a:r>
              <a:t>La tranquilidad de la familia comienza desde la primera hora.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Horario Semanal al Instante:</a:t>
            </a:r>
            <a:r>
              <a:rPr b="0">
                <a:solidFill>
                  <a:srgbClr val="657083"/>
                </a:solidFill>
              </a:rPr>
              <a:t>  Consulta de materias y periodos del día desde el teléfono móvil al levantarse.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Tareas y Deberes Asignados:</a:t>
            </a:r>
            <a:r>
              <a:rPr b="0">
                <a:solidFill>
                  <a:srgbClr val="657083"/>
                </a:solidFill>
              </a:rPr>
              <a:t>  Verificación clara de entregas y compromisos escolares para evitar olvidos.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Uniformes y Novedades:</a:t>
            </a:r>
            <a:r>
              <a:rPr b="0">
                <a:solidFill>
                  <a:srgbClr val="657083"/>
                </a:solidFill>
              </a:rPr>
              <a:t>  Información oficial del colegio sobre días de educación física o eventos especiales.</a:t>
            </a:r>
          </a:p>
          <a:p>
            <a:br/>
            <a:pPr>
              <a:defRPr i="1" sz="1200">
                <a:solidFill>
                  <a:srgbClr val="C6A15B"/>
                </a:solidFill>
              </a:defRPr>
            </a:pPr>
            <a:r>
              <a:t>"Los padres preparan la jornada escolar con total certidumbre y sin buscar en agendas de papel deterioradas."</a:t>
            </a:r>
          </a:p>
        </p:txBody>
      </p:sp>
      <p:pic>
        <p:nvPicPr>
          <p:cNvPr id="5" name="Picture 4" descr="Mobile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ACOMPAÑAMIENTO 360° • ETAPA 02 DE 05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¿A qué hora llega la ruta? — Telemetría GPS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C1930"/>
                </a:solidFill>
              </a:defRPr>
            </a:pPr>
            <a:r>
              <a:t>Seguimiento satelital en tiempo real sobre mapa interactivo.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Ruta en Tiempo Real en el Mapa:</a:t>
            </a:r>
            <a:r>
              <a:rPr b="0">
                <a:solidFill>
                  <a:srgbClr val="657083"/>
                </a:solidFill>
              </a:rPr>
              <a:t>  El padre ve el desplazamiento del bus en vivo sobre el mapa satelital.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Alertas de Proximidad:</a:t>
            </a:r>
            <a:r>
              <a:rPr b="0">
                <a:solidFill>
                  <a:srgbClr val="657083"/>
                </a:solidFill>
              </a:rPr>
              <a:t>  Notificación automática cuando el bus se encuentra a una distancia determinada.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Control de Abordaje por Parada:</a:t>
            </a:r>
            <a:r>
              <a:rPr b="0">
                <a:solidFill>
                  <a:srgbClr val="657083"/>
                </a:solidFill>
              </a:rPr>
              <a:t>  El monitor registra digitalmente el ingreso del estudiante.</a:t>
            </a:r>
          </a:p>
          <a:p>
            <a:br/>
            <a:pPr>
              <a:defRPr i="1" sz="1200">
                <a:solidFill>
                  <a:srgbClr val="C6A15B"/>
                </a:solidFill>
              </a:defRPr>
            </a:pPr>
            <a:r>
              <a:t>"Se acabó la incertidumbre de salir a esperar sin saber si la ruta ya pasó o viene con retraso por el tráfico."</a:t>
            </a:r>
          </a:p>
        </p:txBody>
      </p:sp>
      <p:pic>
        <p:nvPicPr>
          <p:cNvPr id="5" name="Picture 4" descr="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ACOMPAÑAMIENTO 360° • ETAPA 03 DE 05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¿Cómo va la jornada? — Seguimiento y Observador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C1930"/>
                </a:solidFill>
              </a:defRPr>
            </a:pPr>
            <a:r>
              <a:t>Seguimiento transparente del desempeño escolar y convivencial.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Observador del Alumno Digital:</a:t>
            </a:r>
            <a:r>
              <a:rPr b="0">
                <a:solidFill>
                  <a:srgbClr val="657083"/>
                </a:solidFill>
              </a:rPr>
              <a:t>  Anotaciones pedagógicas y convivenciales con trazabilidad inmediata.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Calificaciones Parciales:</a:t>
            </a:r>
            <a:r>
              <a:rPr b="0">
                <a:solidFill>
                  <a:srgbClr val="657083"/>
                </a:solidFill>
              </a:rPr>
              <a:t>  Seguimiento periódico del avance del estudiante antes de fin de periodo.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Eventos y Evaluaciones:</a:t>
            </a:r>
            <a:r>
              <a:rPr b="0">
                <a:solidFill>
                  <a:srgbClr val="657083"/>
                </a:solidFill>
              </a:rPr>
              <a:t>  Calendario institucional actualizado con izadas de bandera y proyectos.</a:t>
            </a:r>
          </a:p>
          <a:p>
            <a:br/>
            <a:pPr>
              <a:defRPr i="1" sz="1200">
                <a:solidFill>
                  <a:srgbClr val="C6A15B"/>
                </a:solidFill>
              </a:defRPr>
            </a:pPr>
            <a:r>
              <a:t>"La familia se siente verdaderamente involucrada y enterada del progreso formativo de su hijo."</a:t>
            </a:r>
          </a:p>
        </p:txBody>
      </p:sp>
      <p:pic>
        <p:nvPicPr>
          <p:cNvPr id="5" name="Picture 4" descr="Ob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ACOMPAÑAMIENTO 360° • ETAPA 04 DE 05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¿Necesito hablar con el colegio? — Mensaje Directo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C1930"/>
                </a:solidFill>
              </a:defRPr>
            </a:pPr>
            <a:r>
              <a:t>Canal oficial protegido sin intermediarios ni grupos informales.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Circulares con Confirmación:</a:t>
            </a:r>
            <a:r>
              <a:rPr b="0">
                <a:solidFill>
                  <a:srgbClr val="657083"/>
                </a:solidFill>
              </a:rPr>
              <a:t>  Emisión de comunicados oficiales con auditoría de lectura en tiempo real.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Privacidad para Docentes:</a:t>
            </a:r>
            <a:r>
              <a:rPr b="0">
                <a:solidFill>
                  <a:srgbClr val="657083"/>
                </a:solidFill>
              </a:rPr>
              <a:t>  Atención respetando el horario escolar sin compartir teléfonos personales.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Soporte Institucional Ágil:</a:t>
            </a:r>
            <a:r>
              <a:rPr b="0">
                <a:solidFill>
                  <a:srgbClr val="657083"/>
                </a:solidFill>
              </a:rPr>
              <a:t>  Respuestas oportunas a inquietudes con respaldo institucional.</a:t>
            </a:r>
          </a:p>
          <a:p>
            <a:br/>
            <a:pPr>
              <a:defRPr i="1" sz="1200">
                <a:solidFill>
                  <a:srgbClr val="C6A15B"/>
                </a:solidFill>
              </a:defRPr>
            </a:pPr>
            <a:r>
              <a:t>"Adiós a las cadenas interminables de WhatsApp: cada comunicado llega a quien corresponde y queda registrado."</a:t>
            </a:r>
          </a:p>
        </p:txBody>
      </p:sp>
      <p:pic>
        <p:nvPicPr>
          <p:cNvPr id="5" name="Picture 4" descr="Broadcast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ACOMPAÑAMIENTO 360° • ETAPA 05 DE 05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¿Ya viene de camino? — Retorno Seguro al Hogar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C1930"/>
                </a:solidFill>
              </a:defRPr>
            </a:pPr>
            <a:r>
              <a:t>Cierre de jornada con certeza y tranquilidad para los padres.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Notificación de Abordaje:</a:t>
            </a:r>
            <a:r>
              <a:rPr b="0">
                <a:solidFill>
                  <a:srgbClr val="657083"/>
                </a:solidFill>
              </a:rPr>
              <a:t>  Alerta en el móvil en el momento exacto en que el estudiante sube a la ruta.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Seguimiento del Trayecto de Regreso:</a:t>
            </a:r>
            <a:r>
              <a:rPr b="0">
                <a:solidFill>
                  <a:srgbClr val="657083"/>
                </a:solidFill>
              </a:rPr>
              <a:t>  Monitoreo en vivo de la ruta hasta la llegada al hogar.</a:t>
            </a:r>
          </a:p>
          <a:p>
            <a:pPr>
              <a:spcAft>
                <a:spcPts val="600"/>
              </a:spcAft>
              <a:defRPr b="1" sz="1200">
                <a:solidFill>
                  <a:srgbClr val="0C1930"/>
                </a:solidFill>
              </a:defRPr>
            </a:pPr>
            <a:r>
              <a:t>✔ Centro de Notificaciones:</a:t>
            </a:r>
            <a:r>
              <a:rPr b="0">
                <a:solidFill>
                  <a:srgbClr val="657083"/>
                </a:solidFill>
              </a:rPr>
              <a:t>  Historial consolidado de todas las novedades y avisos recibidos.</a:t>
            </a:r>
          </a:p>
          <a:p>
            <a:br/>
            <a:pPr>
              <a:defRPr i="1" sz="1200">
                <a:solidFill>
                  <a:srgbClr val="C6A15B"/>
                </a:solidFill>
              </a:defRPr>
            </a:pPr>
            <a:r>
              <a:t>"Paz mental total para los acudientes: desde la salida matutina hasta el regreso seguro al hogar."</a:t>
            </a:r>
          </a:p>
        </p:txBody>
      </p:sp>
      <p:pic>
        <p:nvPicPr>
          <p:cNvPr id="5" name="Picture 4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INVERSIÓN INSTITUCIONAL</a:t>
            </a:r>
          </a:p>
          <a:p>
            <a:pPr>
              <a:defRPr sz="2300" b="1">
                <a:solidFill>
                  <a:srgbClr val="FFFFFF"/>
                </a:solidFill>
              </a:defRPr>
            </a:pPr>
            <a:r>
              <a:t>Planes Anuales por Rango de Estudiantes (Precios en COP)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846320"/>
          </a:xfrm>
          <a:prstGeom prst="roundRect">
            <a:avLst/>
          </a:prstGeom>
          <a:solidFill>
            <a:srgbClr val="18202D"/>
          </a:solidFill>
          <a:ln w="12700"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000" b="1">
                <a:solidFill>
                  <a:srgbClr val="C6A15B"/>
                </a:solidFill>
              </a:defRPr>
            </a:pPr>
            <a:r>
              <a:t>PLAN 1</a:t>
            </a:r>
          </a:p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Core Académico</a:t>
            </a:r>
          </a:p>
          <a:p>
            <a:pPr>
              <a:spcAft>
                <a:spcPts val="300"/>
              </a:spcAft>
              <a:defRPr sz="1000" b="1">
                <a:solidFill>
                  <a:srgbClr val="C6A15B"/>
                </a:solidFill>
              </a:defRPr>
            </a:pPr>
            <a:r>
              <a:t>Tarifas por Rango de Matrícula: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Rango Hasta 150:  $4'800.000 / año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▸ Rango 151 a 250:   $6'500.000 / año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Rango 251 a 400:   $11'000.000 / año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Más de 400:            A convenir</a:t>
            </a:r>
          </a:p>
          <a:p>
            <a:pPr>
              <a:spcAft>
                <a:spcPts val="400"/>
              </a:spcAft>
              <a:defRPr sz="700">
                <a:solidFill>
                  <a:srgbClr val="65708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Sistema de notas configurable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Horarios dinámicos y festivos a 1 clic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Cargue y descargue masivo de datos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Portal web docentes y directivos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Faltas justificadas e injustificadas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846320"/>
          </a:xfrm>
          <a:prstGeom prst="roundRect">
            <a:avLst/>
          </a:prstGeom>
          <a:solidFill>
            <a:srgbClr val="18202D"/>
          </a:solidFill>
          <a:ln w="12700"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000" b="1">
                <a:solidFill>
                  <a:srgbClr val="C6A15B"/>
                </a:solidFill>
              </a:defRPr>
            </a:pPr>
            <a:r>
              <a:t>PLAN 2</a:t>
            </a:r>
          </a:p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Core + Mensajería</a:t>
            </a:r>
          </a:p>
          <a:p>
            <a:pPr>
              <a:spcAft>
                <a:spcPts val="300"/>
              </a:spcAft>
              <a:defRPr sz="1000" b="1">
                <a:solidFill>
                  <a:srgbClr val="C6A15B"/>
                </a:solidFill>
              </a:defRPr>
            </a:pPr>
            <a:r>
              <a:t>Tarifas por Rango de Matrícula: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Rango Hasta 150:  $7'200.000 / año</a:t>
            </a:r>
          </a:p>
          <a:p>
            <a:pPr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▸ Rango 151 a 250:   $9'500.000 / año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Rango 251 a 400:   $16'000.000 / año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Más de 400:            A convenir</a:t>
            </a:r>
          </a:p>
          <a:p>
            <a:pPr>
              <a:spcAft>
                <a:spcPts val="400"/>
              </a:spcAft>
              <a:defRPr sz="700">
                <a:solidFill>
                  <a:srgbClr val="65708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Todo lo de Core Académico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Comunicados masivos (Broadcasts)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Chat protegido profesor-acudiente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Circulares con confirmación de lectura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Calendario de eventos con alerta directa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846320"/>
          </a:xfrm>
          <a:prstGeom prst="roundRect">
            <a:avLst/>
          </a:prstGeom>
          <a:solidFill>
            <a:srgbClr val="122646"/>
          </a:solidFill>
          <a:ln w="25400"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000" b="1">
                <a:solidFill>
                  <a:srgbClr val="C6A15B"/>
                </a:solidFill>
              </a:defRPr>
            </a:pPr>
            <a:r>
              <a:t>PLAN 3 (RECOMENDADO)</a:t>
            </a:r>
          </a:p>
          <a:p>
            <a:pPr>
              <a:spcAft>
                <a:spcPts val="800"/>
              </a:spcAft>
              <a:defRPr sz="1550" b="1">
                <a:solidFill>
                  <a:srgbClr val="FFFFFF"/>
                </a:solidFill>
              </a:defRPr>
            </a:pPr>
            <a:r>
              <a:t>Full: Core + Mensajería + Rutas</a:t>
            </a:r>
          </a:p>
          <a:p>
            <a:pPr>
              <a:spcAft>
                <a:spcPts val="300"/>
              </a:spcAft>
              <a:defRPr sz="1000" b="1">
                <a:solidFill>
                  <a:srgbClr val="C6A15B"/>
                </a:solidFill>
              </a:defRPr>
            </a:pPr>
            <a:r>
              <a:t>Tarifas por Rango de Matrícula: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Rango Hasta 150:  $9'800.000 / año</a:t>
            </a:r>
          </a:p>
          <a:p>
            <a:pPr>
              <a:spcAft>
                <a:spcPts val="200"/>
              </a:spcAft>
              <a:defRPr sz="1000" b="1">
                <a:solidFill>
                  <a:srgbClr val="FFE696"/>
                </a:solidFill>
              </a:defRPr>
            </a:pPr>
            <a:r>
              <a:t>▸ Rango 151 a 250:   $12'500.000 / año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Rango 251 a 400:   $22'000.000 / año</a:t>
            </a:r>
          </a:p>
          <a:p>
            <a:pPr>
              <a:spcAft>
                <a:spcPts val="200"/>
              </a:spcAft>
              <a:defRPr sz="1000" b="0">
                <a:solidFill>
                  <a:srgbClr val="FFFFFF"/>
                </a:solidFill>
              </a:defRPr>
            </a:pPr>
            <a:r>
              <a:t>▸ Más de 400:            A convenir</a:t>
            </a:r>
          </a:p>
          <a:p>
            <a:pPr>
              <a:spcAft>
                <a:spcPts val="400"/>
              </a:spcAft>
              <a:defRPr sz="700">
                <a:solidFill>
                  <a:srgbClr val="65708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Todo Core + Mensajería Oficial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Rastreo satelital GPS en tiempo real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App para conductores y monitores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Alertas por proximidad de distancia</a:t>
            </a:r>
          </a:p>
          <a:p>
            <a:pPr>
              <a:spcAft>
                <a:spcPts val="250"/>
              </a:spcAft>
              <a:defRPr sz="950">
                <a:solidFill>
                  <a:srgbClr val="D2DEEE"/>
                </a:solidFill>
              </a:defRPr>
            </a:pPr>
            <a:r>
              <a:t>• Acompañamiento e inducción VIP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C6A15B"/>
                </a:solidFill>
              </a:defRPr>
            </a:pPr>
            <a:r>
              <a:t>CONDICIONES DE CONTRATACIÓN</a:t>
            </a:r>
          </a:p>
          <a:p>
            <a:pPr>
              <a:defRPr sz="2300" b="1">
                <a:solidFill>
                  <a:srgbClr val="0C1930"/>
                </a:solidFill>
              </a:defRPr>
            </a:pPr>
            <a:r>
              <a:t>Flexibilidad Financiera y Beneficios Especiales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663440"/>
          </a:xfrm>
          <a:prstGeom prst="roundRect">
            <a:avLst/>
          </a:prstGeom>
          <a:solidFill>
            <a:srgbClr val="F5F7FA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700" b="1">
                <a:solidFill>
                  <a:srgbClr val="0C1930"/>
                </a:solidFill>
              </a:defRPr>
            </a:pPr>
            <a:r>
              <a:t>Modalidades de Pago Anual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✔ Opción A: Contado Anual Anticipado</a:t>
            </a:r>
            <a:r>
              <a:rPr b="0">
                <a:solidFill>
                  <a:srgbClr val="657083"/>
                </a:solidFill>
              </a:rPr>
              <a:t>
Descuento especial del 8% de pronto pago sobre el valor del contrato por pago en una sola exhibición al inicio del ciclo escolar (enero/febrero).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✔ Opción B: Desembolso Semestral</a:t>
            </a:r>
            <a:r>
              <a:rPr b="0">
                <a:solidFill>
                  <a:srgbClr val="657083"/>
                </a:solidFill>
              </a:rPr>
              <a:t>
Dos cuotas: 60% a la firma del convenio (inicio de clases) y 40% al inicio del segundo semestre escolar (julio).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✔ Seguridad Contractual:</a:t>
            </a:r>
            <a:r>
              <a:rPr b="0">
                <a:solidFill>
                  <a:srgbClr val="657083"/>
                </a:solidFill>
              </a:rPr>
              <a:t>
Garantía de servicio continuo e ininterrumpido durante los 12 meses del año lectivo, sin riesgo de suspensiones.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212080" cy="4663440"/>
          </a:xfrm>
          <a:prstGeom prst="roundRect">
            <a:avLst/>
          </a:prstGeom>
          <a:solidFill>
            <a:srgbClr val="FFF7E5"/>
          </a:solidFill>
          <a:ln>
            <a:solidFill>
              <a:srgbClr val="C6A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700" b="1">
                <a:solidFill>
                  <a:srgbClr val="0C1930"/>
                </a:solidFill>
              </a:defRPr>
            </a:pPr>
            <a:r>
              <a:t>Bonificaciones y Soporte Incluido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★ Parametrización &amp; Carga Inicial:</a:t>
            </a:r>
            <a:r>
              <a:rPr b="0">
                <a:solidFill>
                  <a:srgbClr val="657083"/>
                </a:solidFill>
              </a:rPr>
              <a:t>
Migración de bases de datos de estudiantes, docentes y clases sin costo (Valor comercial $1'800.000 COP -&gt; 100% Bonificado).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★ Capacitación Docente y de Monitores:</a:t>
            </a:r>
            <a:r>
              <a:rPr b="0">
                <a:solidFill>
                  <a:srgbClr val="657083"/>
                </a:solidFill>
              </a:rPr>
              <a:t>
Sesiones guiadas para directivos, docentes y personal de monitoreo y conducción antes del inicio de operaciones.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★ Actualizaciones Continuas:</a:t>
            </a:r>
            <a:r>
              <a:rPr b="0">
                <a:solidFill>
                  <a:srgbClr val="657083"/>
                </a:solidFill>
              </a:rPr>
              <a:t>
Acceso permanente a mejoras de seguridad, nuevas funciones y copias de seguridad sin cobros extras.</a:t>
            </a:r>
          </a:p>
          <a:p>
            <a:pPr>
              <a:spcAft>
                <a:spcPts val="800"/>
              </a:spcAft>
              <a:defRPr b="1" sz="1100">
                <a:solidFill>
                  <a:srgbClr val="0C1930"/>
                </a:solidFill>
              </a:defRPr>
            </a:pPr>
            <a:r>
              <a:t>★ Tarifa Mínima de Puesta en Marcha:</a:t>
            </a:r>
            <a:r>
              <a:rPr b="0">
                <a:solidFill>
                  <a:srgbClr val="657083"/>
                </a:solidFill>
              </a:rPr>
              <a:t>
Para instituciones con menos de 100 alumnos, tarifa base de $6'000.000 COP anuales.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6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untain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592036" cy="1188720"/>
          </a:xfrm>
          <a:prstGeom prst="rect">
            <a:avLst/>
          </a:prstGeom>
        </p:spPr>
      </p:pic>
      <p:pic>
        <p:nvPicPr>
          <p:cNvPr id="5" name="Picture 4" descr="logo-full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868680"/>
            <a:ext cx="246888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2860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</a:defRPr>
            </a:pPr>
            <a:r>
              <a:t>¿Listos para transformar la experiencia escolar de su comunidad?</a:t>
            </a:r>
          </a:p>
          <a:p>
            <a:pPr>
              <a:spcAft>
                <a:spcPts val="800"/>
              </a:spcAft>
              <a:defRPr sz="1400" b="1">
                <a:solidFill>
                  <a:srgbClr val="C6A15B"/>
                </a:solidFill>
              </a:defRPr>
            </a:pPr>
            <a:r>
              <a:t>Próximos pasos recomendados:</a:t>
            </a:r>
          </a:p>
          <a:p>
            <a:pPr>
              <a:spcAft>
                <a:spcPts val="600"/>
              </a:spcAft>
              <a:defRPr sz="1300">
                <a:solidFill>
                  <a:srgbClr val="DCE6F5"/>
                </a:solidFill>
              </a:defRPr>
            </a:pPr>
            <a:r>
              <a:t>1. Demostración en vivo personalizada de la plataforma web y la app móvil para el equipo directivo.</a:t>
            </a:r>
          </a:p>
          <a:p>
            <a:pPr>
              <a:spcAft>
                <a:spcPts val="600"/>
              </a:spcAft>
              <a:defRPr sz="1300">
                <a:solidFill>
                  <a:srgbClr val="DCE6F5"/>
                </a:solidFill>
              </a:defRPr>
            </a:pPr>
            <a:r>
              <a:t>2. Definición del rango de matrícula institucional y selección del paquete de módulos.</a:t>
            </a:r>
          </a:p>
          <a:p>
            <a:pPr>
              <a:spcAft>
                <a:spcPts val="600"/>
              </a:spcAft>
              <a:defRPr sz="1300">
                <a:solidFill>
                  <a:srgbClr val="DCE6F5"/>
                </a:solidFill>
              </a:defRPr>
            </a:pPr>
            <a:r>
              <a:t>3. Firma de convenio anual, plan de activación y migración inicial de datos.</a:t>
            </a:r>
          </a:p>
          <a:p>
            <a:br/>
            <a:pPr>
              <a:defRPr sz="1300" b="1">
                <a:solidFill>
                  <a:srgbClr val="C6A15B"/>
                </a:solidFill>
              </a:defRPr>
            </a:pPr>
            <a:r>
              <a:t>Aura Soluciones e Innovación S.A.S.   •   contacto@aurasi.co   •   aurasi.co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